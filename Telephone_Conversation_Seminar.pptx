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and welcome to today's English literature seminar. My name is [Student Name], and today I will be presenting Wole Soyinka’s celebrated 1962 poem, 'Telephone Conversation.'</a:t>
            </a:r>
          </a:p>
          <a:p/>
          <a:p>
            <a:r>
              <a:t>Set in London during the post-war era, this poem captures an encounter that feels both painfully realistic and masterfully comic: an educated Black African student phoning a British landlady about a rented room. What begins as a routine housing inquiry quickly spirals into an intense examination of racial prejudice, polite hypocrisy, and the defense of human dignity.</a:t>
            </a:r>
          </a:p>
          <a:p/>
          <a:p>
            <a:r>
              <a:t>Over the next few minutes, we will look at Soyinka's background, trace the narrative sequence of the telephone exchange, examine its major themes, analyze its literary devices, and reflect on its lasting message for our world today. Let us begin with the author.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appreciate the poem, we first need to understand the poet behind it. Wole Soyinka was born in Nigeria in 1934 and studied both in Ibadan and at the University of Leeds in the United Kingdom. He is globally renowned as a playwright, novelist, poet, and essayist.</a:t>
            </a:r>
          </a:p>
          <a:p/>
          <a:p>
            <a:r>
              <a:t>In 1986, Soyinka made history by becoming the very first sub-Saharan African writer to win the Nobel Prize in Literature. The Swedish Academy praised him for his wide cultural perspective and poetic depth.</a:t>
            </a:r>
          </a:p>
          <a:p/>
          <a:p>
            <a:r>
              <a:t>Beyond his literary genius, Soyinka is known for his moral courage. He has consistently spoken out against tyranny, censorship, and human rights abuses—even enduring nearly two years of solitary confinement during the Nigerian Civil War for his anti-war advocacy.</a:t>
            </a:r>
          </a:p>
          <a:p/>
          <a:p>
            <a:r>
              <a:t>He wrote 'Telephone Conversation' in the early 1960s, drawing directly upon his lived experiences as a young African scholar in London. At the time, finding housing was a humiliating ordeal for Black students due to widespread racial prejudice among landlords. Now, let’s examine how this narrative situation unfolds in the poem.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the narrative sequence of the poem step by step. The entire poem takes place within a single phone conversation.</a:t>
            </a:r>
          </a:p>
          <a:p/>
          <a:p>
            <a:r>
              <a:t>In Stage 1, our speaker is searching for a place to rent in London. He finds an advert with a reasonable price and an indifferent location, and calls the landlady from a public red telephone booth.</a:t>
            </a:r>
          </a:p>
          <a:p/>
          <a:p>
            <a:r>
              <a:t>In Stage 2, because racial discrimination was so rampant in 1960s Britain, the speaker decides to pre-empt a wasted journey. He politely confesses: 'Madam, I am African.' He chooses complete honesty.</a:t>
            </a:r>
          </a:p>
          <a:p/>
          <a:p>
            <a:r>
              <a:t>In Stage 3, there is a heavy, awkward silence on the other end of the line. The landlady reveals her prejudice when she asks abruptly: 'HOW DARK?' She completely ignores his manners or suitability as a tenant.</a:t>
            </a:r>
          </a:p>
          <a:p/>
          <a:p>
            <a:r>
              <a:t>In Stage 4, she repeats the question, asking whether he is light or very dark. Instead of responding with anger, the speaker responds with wit. He compares his complexion to artistic shades like 'West African sepia,' mocking her attempt to categorize human beings like paint samples.</a:t>
            </a:r>
          </a:p>
          <a:p/>
          <a:p>
            <a:r>
              <a:t>Finally, in Stage 5, the speaker explains that his face is brunette, but the palms of his hands and soles of his feet are lighter, and pleads with her to inspect his backside before hanging up. Through irony, he strips the landlady of her power and exposes the absurdity of racism. Now, let's explore the major themes.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on to the major themes of the poem, Soyinka weaves several profound social realities into this short dialogue.</a:t>
            </a:r>
          </a:p>
          <a:p/>
          <a:p>
            <a:r>
              <a:t>First, Racial Discrimination: Soyinka focuses on institutional and everyday racism. It is not overt physical violence, but the quiet rejection that prevents a qualified, polite student from having a roof over his head.</a:t>
            </a:r>
          </a:p>
          <a:p/>
          <a:p>
            <a:r>
              <a:t>Second is Human Dignity: the speaker refuses to let the landlady's degrading inquiry strip him of his self-respect. Instead of pleading or showing distress, he maintains intellectual superiority and self-command.</a:t>
            </a:r>
          </a:p>
          <a:p/>
          <a:p>
            <a:r>
              <a:t>Third is Prejudice and Polite Hypocrisy: the landlady hides behind polite diction, but beneath her voice lies cold racial bias. Soyinka reveals how British society often maintained polite appearances while practicing systemic exclusion.</a:t>
            </a:r>
          </a:p>
          <a:p/>
          <a:p>
            <a:r>
              <a:t>Fourth is Identity and Skin Colour: the poem ridicules the obsession with shade and melanin. Skin colour is an accident of biology, not an indicator of integrity, culture, or worth.</a:t>
            </a:r>
          </a:p>
          <a:p/>
          <a:p>
            <a:r>
              <a:t>Ultimately, Soyinka reminds us that character and shared humanity matter far more than outward physical markers. Next, let’s see how Soyinka communicates this through literary craft.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explore how Soyinka uses poetic craft to communicate his message. Rather than writing a simple protest poem, he uses sophisticated literary techniques.</a:t>
            </a:r>
          </a:p>
          <a:p/>
          <a:p>
            <a:r>
              <a:t>First is Irony: the speaker speaks with great refinement and politeness, while the British landlady—who considers herself civilized—behaves with crude prejudice. The irony completely flips the supposed social hierarchy.</a:t>
            </a:r>
          </a:p>
          <a:p/>
          <a:p>
            <a:r>
              <a:t>Second is Satire: Soyinka uses sharp humor and ridicule. When the speaker asks the landlady to inspect the palms of his hands and the soles of his feet, he uses satire to make her obsession with skin color look completely ridiculous.</a:t>
            </a:r>
          </a:p>
          <a:p/>
          <a:p>
            <a:r>
              <a:t>Third is Imagery: the poem is filled with sensory details—the red telephone booth, the red double-decker omnibus, the smell of rancid breath, and artistic shades like 'sepia' and 'peroxide blonde.' This makes the encounter feel physical and grounded.</a:t>
            </a:r>
          </a:p>
          <a:p/>
          <a:p>
            <a:r>
              <a:t>Fourth is Contrast: we see a deliberate contrast between the speaker's articulate calm and the landlady's blunt interrogation. This subverts colonial assumptions about intellect and refinement.</a:t>
            </a:r>
          </a:p>
          <a:p/>
          <a:p>
            <a:r>
              <a:t>And fifth, Dialogue: framing the poem as a phone conversation gives it dramatic immediacy and realism. Together, these devices allow Soyinka to expose prejudice without preaching, turning wit into an instrument of resistance. Let us now conclude our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our seminar, Wole Soyinka’s 'Telephone Conversation' remains an enduring classic because it speaks directly to our shared humanity.</a:t>
            </a:r>
          </a:p>
          <a:p/>
          <a:p>
            <a:r>
              <a:t>It exposes the tragedy of prejudice: that someone can be judged entirely by their skin color before anything is known about their character, intellect, or decency. Yet the poem is fundamentally empowering. The speaker refuses to accept the role of a humiliated victim; instead, he uses humour and superior intellect to reveal the absurdity of his oppressor.</a:t>
            </a:r>
          </a:p>
          <a:p/>
          <a:p>
            <a:r>
              <a:t>As we reflect on this poem in our English seminar today, its moral truth is clear and undeniable: 'Every person deserves equal dignity and respect, regardless of skin colour.' Human dignity has no colour, and equality is a right, not a privilege.</a:t>
            </a:r>
          </a:p>
          <a:p/>
          <a:p>
            <a:r>
              <a:t>Thank you very much for your time and attention. I would now be delighted to open the floor to any questions, thoughts, or discussion from the seminar.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051560"/>
            <a:ext cx="6217920" cy="3291840"/>
          </a:xfrm>
          <a:prstGeom prst="rect">
            <a:avLst/>
          </a:prstGeom>
          <a:noFill/>
        </p:spPr>
        <p:txBody>
          <a:bodyPr wrap="square" lIns="0" tIns="0" rIns="0" bIns="0">
            <a:spAutoFit/>
          </a:bodyPr>
          <a:lstStyle/>
          <a:p>
            <a:pPr>
              <a:spcAft>
                <a:spcPts val="1400"/>
              </a:spcAft>
              <a:defRPr sz="1100" b="1">
                <a:solidFill>
                  <a:srgbClr val="7C2D37"/>
                </a:solidFill>
                <a:latin typeface="Calibri"/>
              </a:defRPr>
            </a:pPr>
            <a:r>
              <a:t>COLLEGE ENGLISH LITERATURE SEMINAR</a:t>
            </a:r>
          </a:p>
          <a:p>
            <a:pPr>
              <a:spcAft>
                <a:spcPts val="600"/>
              </a:spcAft>
              <a:defRPr sz="3800" b="1">
                <a:solidFill>
                  <a:srgbClr val="2A2421"/>
                </a:solidFill>
                <a:latin typeface="Georgia"/>
              </a:defRPr>
            </a:pPr>
            <a:r>
              <a:t>Telephone Conversation</a:t>
            </a:r>
          </a:p>
          <a:p>
            <a:pPr>
              <a:spcAft>
                <a:spcPts val="1600"/>
              </a:spcAft>
              <a:defRPr sz="2100" i="1">
                <a:solidFill>
                  <a:srgbClr val="7C2D37"/>
                </a:solidFill>
                <a:latin typeface="Georgia"/>
              </a:defRPr>
            </a:pPr>
            <a:r>
              <a:t>By Wole Soyinka</a:t>
            </a:r>
          </a:p>
        </p:txBody>
      </p:sp>
      <p:sp>
        <p:nvSpPr>
          <p:cNvPr id="4" name="Rectangle 3"/>
          <p:cNvSpPr/>
          <p:nvPr/>
        </p:nvSpPr>
        <p:spPr>
          <a:xfrm>
            <a:off x="822960" y="2999232"/>
            <a:ext cx="2011680" cy="22860"/>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218688"/>
            <a:ext cx="6035040" cy="960120"/>
          </a:xfrm>
          <a:prstGeom prst="rect">
            <a:avLst/>
          </a:prstGeom>
          <a:noFill/>
        </p:spPr>
        <p:txBody>
          <a:bodyPr wrap="square" lIns="0" tIns="0" rIns="0" bIns="0">
            <a:spAutoFit/>
          </a:bodyPr>
          <a:lstStyle/>
          <a:p>
            <a:pPr>
              <a:defRPr sz="1350">
                <a:solidFill>
                  <a:srgbClr val="4A433E"/>
                </a:solidFill>
                <a:latin typeface="Calibri"/>
              </a:defRPr>
            </a:pPr>
            <a:r>
              <a:t>A close reading of racial prejudice, everyday discrimination, and the defense of human dignity through irony.</a:t>
            </a:r>
          </a:p>
        </p:txBody>
      </p:sp>
      <p:sp>
        <p:nvSpPr>
          <p:cNvPr id="6" name="Rectangle 5"/>
          <p:cNvSpPr/>
          <p:nvPr/>
        </p:nvSpPr>
        <p:spPr>
          <a:xfrm>
            <a:off x="822960" y="4343400"/>
            <a:ext cx="6035040" cy="1645920"/>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480560"/>
            <a:ext cx="5577840" cy="1371600"/>
          </a:xfrm>
          <a:prstGeom prst="rect">
            <a:avLst/>
          </a:prstGeom>
          <a:noFill/>
        </p:spPr>
        <p:txBody>
          <a:bodyPr wrap="square" lIns="0" tIns="0" rIns="0" bIns="0">
            <a:spAutoFit/>
          </a:bodyPr>
          <a:lstStyle/>
          <a:p>
            <a:pPr>
              <a:spcAft>
                <a:spcPts val="200"/>
              </a:spcAft>
              <a:defRPr sz="950" b="1">
                <a:solidFill>
                  <a:srgbClr val="787069"/>
                </a:solidFill>
                <a:latin typeface="Calibri"/>
              </a:defRPr>
            </a:pPr>
            <a:r>
              <a:t>PRESENTED BY</a:t>
            </a:r>
          </a:p>
          <a:p>
            <a:pPr>
              <a:spcAft>
                <a:spcPts val="400"/>
              </a:spcAft>
              <a:defRPr sz="1500" b="1">
                <a:solidFill>
                  <a:srgbClr val="2A2421"/>
                </a:solidFill>
                <a:latin typeface="Georgia"/>
              </a:defRPr>
            </a:pPr>
            <a:r>
              <a:t>[Student Name]</a:t>
            </a:r>
          </a:p>
          <a:p>
            <a:pPr>
              <a:spcAft>
                <a:spcPts val="200"/>
              </a:spcAft>
              <a:defRPr sz="1150">
                <a:solidFill>
                  <a:srgbClr val="4A433E"/>
                </a:solidFill>
                <a:latin typeface="Calibri"/>
              </a:defRPr>
            </a:pPr>
            <a:r>
              <a:t>Department of English Literature • College Seminar Series</a:t>
            </a:r>
          </a:p>
          <a:p>
            <a:pPr>
              <a:defRPr sz="1100" i="1">
                <a:solidFill>
                  <a:srgbClr val="787069"/>
                </a:solidFill>
                <a:latin typeface="Calibri"/>
              </a:defRPr>
            </a:pPr>
            <a:r>
              <a:t>Topic: Modern African Poetry &amp; Post-Colonial Literature</a:t>
            </a:r>
          </a:p>
        </p:txBody>
      </p:sp>
      <p:sp>
        <p:nvSpPr>
          <p:cNvPr id="8" name="Rectangle 7"/>
          <p:cNvSpPr/>
          <p:nvPr/>
        </p:nvSpPr>
        <p:spPr>
          <a:xfrm>
            <a:off x="7315200" y="1051560"/>
            <a:ext cx="4023360" cy="4480560"/>
          </a:xfrm>
          <a:prstGeom prst="rect">
            <a:avLst/>
          </a:prstGeom>
          <a:solidFill>
            <a:srgbClr val="FFFFFF"/>
          </a:solidFill>
          <a:ln w="12700">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hone_cropped.jpg"/>
          <p:cNvPicPr>
            <a:picLocks noChangeAspect="1"/>
          </p:cNvPicPr>
          <p:nvPr/>
        </p:nvPicPr>
        <p:blipFill>
          <a:blip r:embed="rId2"/>
          <a:stretch>
            <a:fillRect/>
          </a:stretch>
        </p:blipFill>
        <p:spPr>
          <a:xfrm>
            <a:off x="7498079" y="1234440"/>
            <a:ext cx="3657600" cy="3611880"/>
          </a:xfrm>
          <a:prstGeom prst="rect">
            <a:avLst/>
          </a:prstGeom>
        </p:spPr>
      </p:pic>
      <p:sp>
        <p:nvSpPr>
          <p:cNvPr id="10" name="TextBox 9"/>
          <p:cNvSpPr txBox="1"/>
          <p:nvPr/>
        </p:nvSpPr>
        <p:spPr>
          <a:xfrm>
            <a:off x="7406640" y="4983480"/>
            <a:ext cx="3840480" cy="411480"/>
          </a:xfrm>
          <a:prstGeom prst="rect">
            <a:avLst/>
          </a:prstGeom>
          <a:noFill/>
        </p:spPr>
        <p:txBody>
          <a:bodyPr wrap="square" lIns="0" tIns="0" rIns="0" bIns="0">
            <a:spAutoFit/>
          </a:bodyPr>
          <a:lstStyle/>
          <a:p>
            <a:pPr algn="ctr">
              <a:defRPr sz="1050" i="1">
                <a:solidFill>
                  <a:srgbClr val="787069"/>
                </a:solidFill>
                <a:latin typeface="Calibri"/>
              </a:defRPr>
            </a:pPr>
            <a:r>
              <a:t>A mid-century telephone: bridging communication across racial barriers.</a:t>
            </a:r>
          </a:p>
        </p:txBody>
      </p:sp>
      <p:sp>
        <p:nvSpPr>
          <p:cNvPr id="11" name="Rectangle 10"/>
          <p:cNvSpPr/>
          <p:nvPr/>
        </p:nvSpPr>
        <p:spPr>
          <a:xfrm>
            <a:off x="731520" y="6263640"/>
            <a:ext cx="10728655" cy="9144"/>
          </a:xfrm>
          <a:prstGeom prst="rect">
            <a:avLst/>
          </a:prstGeom>
          <a:solidFill>
            <a:srgbClr val="E2DBD1"/>
          </a:solidFill>
          <a:ln>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327648"/>
            <a:ext cx="7315200" cy="274320"/>
          </a:xfrm>
          <a:prstGeom prst="rect">
            <a:avLst/>
          </a:prstGeom>
          <a:noFill/>
        </p:spPr>
        <p:txBody>
          <a:bodyPr wrap="square" lIns="0" tIns="0" rIns="0" bIns="0">
            <a:spAutoFit/>
          </a:bodyPr>
          <a:lstStyle/>
          <a:p>
            <a:pPr>
              <a:defRPr sz="950">
                <a:solidFill>
                  <a:srgbClr val="787069"/>
                </a:solidFill>
                <a:latin typeface="Calibri"/>
              </a:defRPr>
            </a:pPr>
            <a:r>
              <a:t>Telephone Conversation — Wole Soyinka | College English Literature Seminar</a:t>
            </a:r>
          </a:p>
        </p:txBody>
      </p:sp>
      <p:sp>
        <p:nvSpPr>
          <p:cNvPr id="13" name="TextBox 12"/>
          <p:cNvSpPr txBox="1"/>
          <p:nvPr/>
        </p:nvSpPr>
        <p:spPr>
          <a:xfrm>
            <a:off x="9631375" y="6327648"/>
            <a:ext cx="1828800" cy="274320"/>
          </a:xfrm>
          <a:prstGeom prst="rect">
            <a:avLst/>
          </a:prstGeom>
          <a:noFill/>
        </p:spPr>
        <p:txBody>
          <a:bodyPr wrap="square" lIns="0" tIns="0" rIns="0" bIns="0">
            <a:spAutoFit/>
          </a:bodyPr>
          <a:lstStyle/>
          <a:p>
            <a:pPr algn="r">
              <a:defRPr sz="950">
                <a:solidFill>
                  <a:srgbClr val="787069"/>
                </a:solidFill>
                <a:latin typeface="Calibri"/>
              </a:defRPr>
            </a:pPr>
            <a:r>
              <a:t>Slide 1 of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051560"/>
          </a:xfrm>
          <a:prstGeom prst="rect">
            <a:avLst/>
          </a:prstGeom>
          <a:noFill/>
        </p:spPr>
        <p:txBody>
          <a:bodyPr wrap="square" lIns="0" tIns="0" rIns="0" bIns="0">
            <a:spAutoFit/>
          </a:bodyPr>
          <a:lstStyle/>
          <a:p>
            <a:pPr>
              <a:spcAft>
                <a:spcPts val="300"/>
              </a:spcAft>
              <a:defRPr sz="1000" b="1">
                <a:solidFill>
                  <a:srgbClr val="7C2D37"/>
                </a:solidFill>
                <a:latin typeface="Calibri"/>
              </a:defRPr>
            </a:pPr>
            <a:r>
              <a:t>BIOGRAPHICAL CONTEXT</a:t>
            </a:r>
          </a:p>
          <a:p>
            <a:pPr>
              <a:spcAft>
                <a:spcPts val="200"/>
              </a:spcAft>
              <a:defRPr sz="2600" b="1">
                <a:solidFill>
                  <a:srgbClr val="2A2421"/>
                </a:solidFill>
                <a:latin typeface="Georgia"/>
              </a:defRPr>
            </a:pPr>
            <a:r>
              <a:t>About Wole Soyinka</a:t>
            </a:r>
          </a:p>
          <a:p>
            <a:pPr>
              <a:defRPr sz="1300" i="1">
                <a:solidFill>
                  <a:srgbClr val="787069"/>
                </a:solidFill>
                <a:latin typeface="Calibri"/>
              </a:defRPr>
            </a:pPr>
            <a:r>
              <a:t>Nigerian playwright, poet, and champion of human dignity</a:t>
            </a:r>
          </a:p>
        </p:txBody>
      </p:sp>
      <p:sp>
        <p:nvSpPr>
          <p:cNvPr id="4" name="Rectangle 3"/>
          <p:cNvSpPr/>
          <p:nvPr/>
        </p:nvSpPr>
        <p:spPr>
          <a:xfrm>
            <a:off x="731520" y="1536192"/>
            <a:ext cx="10728655" cy="13716"/>
          </a:xfrm>
          <a:prstGeom prst="rect">
            <a:avLst/>
          </a:prstGeom>
          <a:solidFill>
            <a:srgbClr val="D8D0C6"/>
          </a:solidFill>
          <a:ln>
            <a:solidFill>
              <a:srgbClr val="D8D0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737360"/>
            <a:ext cx="3291840" cy="4343400"/>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oyinka_cropped.jpg"/>
          <p:cNvPicPr>
            <a:picLocks noChangeAspect="1"/>
          </p:cNvPicPr>
          <p:nvPr/>
        </p:nvPicPr>
        <p:blipFill>
          <a:blip r:embed="rId2"/>
          <a:stretch>
            <a:fillRect/>
          </a:stretch>
        </p:blipFill>
        <p:spPr>
          <a:xfrm>
            <a:off x="868680" y="1874519"/>
            <a:ext cx="3017520" cy="3429000"/>
          </a:xfrm>
          <a:prstGeom prst="rect">
            <a:avLst/>
          </a:prstGeom>
        </p:spPr>
      </p:pic>
      <p:sp>
        <p:nvSpPr>
          <p:cNvPr id="7" name="TextBox 6"/>
          <p:cNvSpPr txBox="1"/>
          <p:nvPr/>
        </p:nvSpPr>
        <p:spPr>
          <a:xfrm>
            <a:off x="868680" y="5440680"/>
            <a:ext cx="3017520" cy="548640"/>
          </a:xfrm>
          <a:prstGeom prst="rect">
            <a:avLst/>
          </a:prstGeom>
          <a:noFill/>
        </p:spPr>
        <p:txBody>
          <a:bodyPr wrap="square" lIns="0" tIns="0" rIns="0" bIns="0">
            <a:spAutoFit/>
          </a:bodyPr>
          <a:lstStyle/>
          <a:p>
            <a:pPr algn="ctr">
              <a:defRPr sz="1100" b="1">
                <a:solidFill>
                  <a:srgbClr val="2A2421"/>
                </a:solidFill>
                <a:latin typeface="Georgia"/>
              </a:defRPr>
            </a:pPr>
            <a:r>
              <a:t>Wole Soyinka (b. 13 July 1934)</a:t>
            </a:r>
          </a:p>
          <a:p>
            <a:pPr algn="ctr">
              <a:defRPr sz="950">
                <a:solidFill>
                  <a:srgbClr val="787069"/>
                </a:solidFill>
                <a:latin typeface="Calibri"/>
              </a:defRPr>
            </a:pPr>
            <a:r>
              <a:t>Nigerian Poet, Playwright &amp; Nobel Laureate</a:t>
            </a:r>
          </a:p>
        </p:txBody>
      </p:sp>
      <p:sp>
        <p:nvSpPr>
          <p:cNvPr id="8" name="Rectangle 7"/>
          <p:cNvSpPr/>
          <p:nvPr/>
        </p:nvSpPr>
        <p:spPr>
          <a:xfrm>
            <a:off x="4251960" y="1737360"/>
            <a:ext cx="7205472" cy="1005840"/>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51960" y="1737360"/>
            <a:ext cx="73152" cy="1005840"/>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53128" y="1828800"/>
            <a:ext cx="6885432" cy="822960"/>
          </a:xfrm>
          <a:prstGeom prst="rect">
            <a:avLst/>
          </a:prstGeom>
          <a:noFill/>
        </p:spPr>
        <p:txBody>
          <a:bodyPr wrap="square" lIns="0" tIns="0" rIns="0" bIns="0">
            <a:spAutoFit/>
          </a:bodyPr>
          <a:lstStyle/>
          <a:p>
            <a:pPr>
              <a:spcAft>
                <a:spcPts val="200"/>
              </a:spcAft>
              <a:defRPr sz="1300" b="1">
                <a:solidFill>
                  <a:srgbClr val="7C2D37"/>
                </a:solidFill>
                <a:latin typeface="Georgia"/>
              </a:defRPr>
            </a:pPr>
            <a:r>
              <a:t>Nigerian Literary Pioneer</a:t>
            </a:r>
          </a:p>
          <a:p>
            <a:pPr>
              <a:defRPr sz="1100">
                <a:solidFill>
                  <a:srgbClr val="4A433E"/>
                </a:solidFill>
                <a:latin typeface="Calibri"/>
              </a:defRPr>
            </a:pPr>
            <a:r>
              <a:t>Born on 13 July 1934 in Abeokuta, Nigeria. Soyinka studied at University College, Ibadan, and the University of Leeds. He became one of the foremost dramatists, poets, and cultural critics of modern African literature.</a:t>
            </a:r>
          </a:p>
        </p:txBody>
      </p:sp>
      <p:sp>
        <p:nvSpPr>
          <p:cNvPr id="11" name="Rectangle 10"/>
          <p:cNvSpPr/>
          <p:nvPr/>
        </p:nvSpPr>
        <p:spPr>
          <a:xfrm>
            <a:off x="4251960" y="2852928"/>
            <a:ext cx="7205472" cy="1005840"/>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60" y="2852928"/>
            <a:ext cx="73152" cy="1005840"/>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3128" y="2944368"/>
            <a:ext cx="6885432" cy="822960"/>
          </a:xfrm>
          <a:prstGeom prst="rect">
            <a:avLst/>
          </a:prstGeom>
          <a:noFill/>
        </p:spPr>
        <p:txBody>
          <a:bodyPr wrap="square" lIns="0" tIns="0" rIns="0" bIns="0">
            <a:spAutoFit/>
          </a:bodyPr>
          <a:lstStyle/>
          <a:p>
            <a:pPr>
              <a:spcAft>
                <a:spcPts val="200"/>
              </a:spcAft>
              <a:defRPr sz="1300" b="1">
                <a:solidFill>
                  <a:srgbClr val="7C2D37"/>
                </a:solidFill>
                <a:latin typeface="Georgia"/>
              </a:defRPr>
            </a:pPr>
            <a:r>
              <a:t>Nobel Prize in Literature (1986)</a:t>
            </a:r>
          </a:p>
          <a:p>
            <a:pPr>
              <a:defRPr sz="1100">
                <a:solidFill>
                  <a:srgbClr val="4A433E"/>
                </a:solidFill>
                <a:latin typeface="Calibri"/>
              </a:defRPr>
            </a:pPr>
            <a:r>
              <a:t>In 1986, Soyinka made history as the first sub-Saharan African writer to receive the Nobel Prize in Literature, commended for fashioning the drama of existence with wide cultural perspective and poetic resonance.</a:t>
            </a:r>
          </a:p>
        </p:txBody>
      </p:sp>
      <p:sp>
        <p:nvSpPr>
          <p:cNvPr id="14" name="Rectangle 13"/>
          <p:cNvSpPr/>
          <p:nvPr/>
        </p:nvSpPr>
        <p:spPr>
          <a:xfrm>
            <a:off x="4251960" y="3968496"/>
            <a:ext cx="7205472" cy="1005840"/>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51960" y="3968496"/>
            <a:ext cx="73152" cy="1005840"/>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53128" y="4059936"/>
            <a:ext cx="6885432" cy="822960"/>
          </a:xfrm>
          <a:prstGeom prst="rect">
            <a:avLst/>
          </a:prstGeom>
          <a:noFill/>
        </p:spPr>
        <p:txBody>
          <a:bodyPr wrap="square" lIns="0" tIns="0" rIns="0" bIns="0">
            <a:spAutoFit/>
          </a:bodyPr>
          <a:lstStyle/>
          <a:p>
            <a:pPr>
              <a:spcAft>
                <a:spcPts val="200"/>
              </a:spcAft>
              <a:defRPr sz="1300" b="1">
                <a:solidFill>
                  <a:srgbClr val="7C2D37"/>
                </a:solidFill>
                <a:latin typeface="Georgia"/>
              </a:defRPr>
            </a:pPr>
            <a:r>
              <a:t>Lifelong Defense of Human Rights</a:t>
            </a:r>
          </a:p>
          <a:p>
            <a:pPr>
              <a:defRPr sz="1100">
                <a:solidFill>
                  <a:srgbClr val="4A433E"/>
                </a:solidFill>
                <a:latin typeface="Calibri"/>
              </a:defRPr>
            </a:pPr>
            <a:r>
              <a:t>His literary work fearlessly challenges political oppression, corruption, and social injustice. He endured political imprisonment in Nigeria for opposing war and has continually defended individual freedom and dignity.</a:t>
            </a:r>
          </a:p>
        </p:txBody>
      </p:sp>
      <p:sp>
        <p:nvSpPr>
          <p:cNvPr id="17" name="Rectangle 16"/>
          <p:cNvSpPr/>
          <p:nvPr/>
        </p:nvSpPr>
        <p:spPr>
          <a:xfrm>
            <a:off x="4251960" y="5084064"/>
            <a:ext cx="7205472" cy="1005840"/>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51960" y="5084064"/>
            <a:ext cx="73152" cy="1005840"/>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53128" y="5175504"/>
            <a:ext cx="6885432" cy="822960"/>
          </a:xfrm>
          <a:prstGeom prst="rect">
            <a:avLst/>
          </a:prstGeom>
          <a:noFill/>
        </p:spPr>
        <p:txBody>
          <a:bodyPr wrap="square" lIns="0" tIns="0" rIns="0" bIns="0">
            <a:spAutoFit/>
          </a:bodyPr>
          <a:lstStyle/>
          <a:p>
            <a:pPr>
              <a:spcAft>
                <a:spcPts val="200"/>
              </a:spcAft>
              <a:defRPr sz="1300" b="1">
                <a:solidFill>
                  <a:srgbClr val="7C2D37"/>
                </a:solidFill>
                <a:latin typeface="Georgia"/>
              </a:defRPr>
            </a:pPr>
            <a:r>
              <a:t>Context of 'Telephone Conversation'</a:t>
            </a:r>
          </a:p>
          <a:p>
            <a:pPr>
              <a:defRPr sz="1100">
                <a:solidFill>
                  <a:srgbClr val="4A433E"/>
                </a:solidFill>
                <a:latin typeface="Calibri"/>
              </a:defRPr>
            </a:pPr>
            <a:r>
              <a:t>Written during his years in England in the early 1960s, the poem reflects the pervasive housing discrimination and subtle 'colour bar' faced by African scholars and immigrants in post-war Britain.</a:t>
            </a:r>
          </a:p>
        </p:txBody>
      </p:sp>
      <p:sp>
        <p:nvSpPr>
          <p:cNvPr id="20" name="Rectangle 19"/>
          <p:cNvSpPr/>
          <p:nvPr/>
        </p:nvSpPr>
        <p:spPr>
          <a:xfrm>
            <a:off x="731520" y="6263640"/>
            <a:ext cx="10728655" cy="9144"/>
          </a:xfrm>
          <a:prstGeom prst="rect">
            <a:avLst/>
          </a:prstGeom>
          <a:solidFill>
            <a:srgbClr val="E2DBD1"/>
          </a:solidFill>
          <a:ln>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327648"/>
            <a:ext cx="7315200" cy="274320"/>
          </a:xfrm>
          <a:prstGeom prst="rect">
            <a:avLst/>
          </a:prstGeom>
          <a:noFill/>
        </p:spPr>
        <p:txBody>
          <a:bodyPr wrap="square" lIns="0" tIns="0" rIns="0" bIns="0">
            <a:spAutoFit/>
          </a:bodyPr>
          <a:lstStyle/>
          <a:p>
            <a:pPr>
              <a:defRPr sz="950">
                <a:solidFill>
                  <a:srgbClr val="787069"/>
                </a:solidFill>
                <a:latin typeface="Calibri"/>
              </a:defRPr>
            </a:pPr>
            <a:r>
              <a:t>Telephone Conversation — Wole Soyinka | College English Literature Seminar</a:t>
            </a:r>
          </a:p>
        </p:txBody>
      </p:sp>
      <p:sp>
        <p:nvSpPr>
          <p:cNvPr id="22" name="TextBox 21"/>
          <p:cNvSpPr txBox="1"/>
          <p:nvPr/>
        </p:nvSpPr>
        <p:spPr>
          <a:xfrm>
            <a:off x="9631375" y="6327648"/>
            <a:ext cx="1828800" cy="274320"/>
          </a:xfrm>
          <a:prstGeom prst="rect">
            <a:avLst/>
          </a:prstGeom>
          <a:noFill/>
        </p:spPr>
        <p:txBody>
          <a:bodyPr wrap="square" lIns="0" tIns="0" rIns="0" bIns="0">
            <a:spAutoFit/>
          </a:bodyPr>
          <a:lstStyle/>
          <a:p>
            <a:pPr algn="r">
              <a:defRPr sz="950">
                <a:solidFill>
                  <a:srgbClr val="787069"/>
                </a:solidFill>
                <a:latin typeface="Calibri"/>
              </a:defRPr>
            </a:pPr>
            <a:r>
              <a:t>Slide 2 of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051560"/>
          </a:xfrm>
          <a:prstGeom prst="rect">
            <a:avLst/>
          </a:prstGeom>
          <a:noFill/>
        </p:spPr>
        <p:txBody>
          <a:bodyPr wrap="square" lIns="0" tIns="0" rIns="0" bIns="0">
            <a:spAutoFit/>
          </a:bodyPr>
          <a:lstStyle/>
          <a:p>
            <a:pPr>
              <a:spcAft>
                <a:spcPts val="300"/>
              </a:spcAft>
              <a:defRPr sz="1000" b="1">
                <a:solidFill>
                  <a:srgbClr val="7C2D37"/>
                </a:solidFill>
                <a:latin typeface="Calibri"/>
              </a:defRPr>
            </a:pPr>
            <a:r>
              <a:t>TEXTUAL OVERVIEW</a:t>
            </a:r>
          </a:p>
          <a:p>
            <a:pPr>
              <a:spcAft>
                <a:spcPts val="200"/>
              </a:spcAft>
              <a:defRPr sz="2600" b="1">
                <a:solidFill>
                  <a:srgbClr val="2A2421"/>
                </a:solidFill>
                <a:latin typeface="Georgia"/>
              </a:defRPr>
            </a:pPr>
            <a:r>
              <a:t>Summary: The Flow of the Conversation</a:t>
            </a:r>
          </a:p>
          <a:p>
            <a:pPr>
              <a:defRPr sz="1300" i="1">
                <a:solidFill>
                  <a:srgbClr val="787069"/>
                </a:solidFill>
                <a:latin typeface="Calibri"/>
              </a:defRPr>
            </a:pPr>
            <a:r>
              <a:t>A natural sequence of events from inquiry to ironic triumph</a:t>
            </a:r>
          </a:p>
        </p:txBody>
      </p:sp>
      <p:sp>
        <p:nvSpPr>
          <p:cNvPr id="4" name="Rectangle 3"/>
          <p:cNvSpPr/>
          <p:nvPr/>
        </p:nvSpPr>
        <p:spPr>
          <a:xfrm>
            <a:off x="731520" y="1536192"/>
            <a:ext cx="10728655" cy="13716"/>
          </a:xfrm>
          <a:prstGeom prst="rect">
            <a:avLst/>
          </a:prstGeom>
          <a:solidFill>
            <a:srgbClr val="D8D0C6"/>
          </a:solidFill>
          <a:ln>
            <a:solidFill>
              <a:srgbClr val="D8D0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737360"/>
            <a:ext cx="2011680" cy="3566160"/>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2011680" cy="54864"/>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01952"/>
            <a:ext cx="1737360" cy="3291840"/>
          </a:xfrm>
          <a:prstGeom prst="rect">
            <a:avLst/>
          </a:prstGeom>
          <a:noFill/>
        </p:spPr>
        <p:txBody>
          <a:bodyPr wrap="square" lIns="0" tIns="0" rIns="0" bIns="0">
            <a:spAutoFit/>
          </a:bodyPr>
          <a:lstStyle/>
          <a:p>
            <a:pPr>
              <a:spcAft>
                <a:spcPts val="400"/>
              </a:spcAft>
              <a:defRPr sz="2000" b="1">
                <a:solidFill>
                  <a:srgbClr val="7C2D37"/>
                </a:solidFill>
                <a:latin typeface="Georgia"/>
              </a:defRPr>
            </a:pPr>
            <a:r>
              <a:t>01</a:t>
            </a:r>
          </a:p>
          <a:p>
            <a:pPr>
              <a:spcAft>
                <a:spcPts val="800"/>
              </a:spcAft>
              <a:defRPr sz="1300" b="1">
                <a:solidFill>
                  <a:srgbClr val="2A2421"/>
                </a:solidFill>
                <a:latin typeface="Georgia"/>
              </a:defRPr>
            </a:pPr>
            <a:r>
              <a:t>The Rental Inquiry</a:t>
            </a:r>
          </a:p>
          <a:p>
            <a:pPr>
              <a:defRPr sz="1100">
                <a:solidFill>
                  <a:srgbClr val="4A433E"/>
                </a:solidFill>
                <a:latin typeface="Calibri"/>
              </a:defRPr>
            </a:pPr>
            <a:r>
              <a:t>The speaker finds a promising rental advertisement in London. Pleased with the reasonable rent and location, he calls the landlady from a public telephone booth to secure accommodation.</a:t>
            </a:r>
          </a:p>
        </p:txBody>
      </p:sp>
      <p:sp>
        <p:nvSpPr>
          <p:cNvPr id="8" name="Rectangle 7"/>
          <p:cNvSpPr/>
          <p:nvPr/>
        </p:nvSpPr>
        <p:spPr>
          <a:xfrm>
            <a:off x="2907792" y="1737360"/>
            <a:ext cx="2011680" cy="3566160"/>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07792" y="1737360"/>
            <a:ext cx="2011680" cy="54864"/>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4952" y="1901952"/>
            <a:ext cx="1737360" cy="3291840"/>
          </a:xfrm>
          <a:prstGeom prst="rect">
            <a:avLst/>
          </a:prstGeom>
          <a:noFill/>
        </p:spPr>
        <p:txBody>
          <a:bodyPr wrap="square" lIns="0" tIns="0" rIns="0" bIns="0">
            <a:spAutoFit/>
          </a:bodyPr>
          <a:lstStyle/>
          <a:p>
            <a:pPr>
              <a:spcAft>
                <a:spcPts val="400"/>
              </a:spcAft>
              <a:defRPr sz="2000" b="1">
                <a:solidFill>
                  <a:srgbClr val="7C2D37"/>
                </a:solidFill>
                <a:latin typeface="Georgia"/>
              </a:defRPr>
            </a:pPr>
            <a:r>
              <a:t>02</a:t>
            </a:r>
          </a:p>
          <a:p>
            <a:pPr>
              <a:spcAft>
                <a:spcPts val="800"/>
              </a:spcAft>
              <a:defRPr sz="1300" b="1">
                <a:solidFill>
                  <a:srgbClr val="2A2421"/>
                </a:solidFill>
                <a:latin typeface="Georgia"/>
              </a:defRPr>
            </a:pPr>
            <a:r>
              <a:t>Pre-emptive Disclosure</a:t>
            </a:r>
          </a:p>
          <a:p>
            <a:pPr>
              <a:defRPr sz="1100">
                <a:solidFill>
                  <a:srgbClr val="4A433E"/>
                </a:solidFill>
                <a:latin typeface="Calibri"/>
              </a:defRPr>
            </a:pPr>
            <a:r>
              <a:t>Knowing the prevalence of discrimination, the speaker chooses to avoid wasted travel. He politely and frankly discloses his racial identity, stating plainly: 'I am African.'</a:t>
            </a:r>
          </a:p>
        </p:txBody>
      </p:sp>
      <p:sp>
        <p:nvSpPr>
          <p:cNvPr id="11" name="Rectangle 10"/>
          <p:cNvSpPr/>
          <p:nvPr/>
        </p:nvSpPr>
        <p:spPr>
          <a:xfrm>
            <a:off x="5084064" y="1737360"/>
            <a:ext cx="2011680" cy="3566160"/>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84064" y="1737360"/>
            <a:ext cx="2011680" cy="54864"/>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21224" y="1901952"/>
            <a:ext cx="1737360" cy="3291840"/>
          </a:xfrm>
          <a:prstGeom prst="rect">
            <a:avLst/>
          </a:prstGeom>
          <a:noFill/>
        </p:spPr>
        <p:txBody>
          <a:bodyPr wrap="square" lIns="0" tIns="0" rIns="0" bIns="0">
            <a:spAutoFit/>
          </a:bodyPr>
          <a:lstStyle/>
          <a:p>
            <a:pPr>
              <a:spcAft>
                <a:spcPts val="400"/>
              </a:spcAft>
              <a:defRPr sz="2000" b="1">
                <a:solidFill>
                  <a:srgbClr val="7C2D37"/>
                </a:solidFill>
                <a:latin typeface="Georgia"/>
              </a:defRPr>
            </a:pPr>
            <a:r>
              <a:t>03</a:t>
            </a:r>
          </a:p>
          <a:p>
            <a:pPr>
              <a:spcAft>
                <a:spcPts val="800"/>
              </a:spcAft>
              <a:defRPr sz="1300" b="1">
                <a:solidFill>
                  <a:srgbClr val="2A2421"/>
                </a:solidFill>
                <a:latin typeface="Georgia"/>
              </a:defRPr>
            </a:pPr>
            <a:r>
              <a:t>The Abrupt Question</a:t>
            </a:r>
          </a:p>
          <a:p>
            <a:pPr>
              <a:defRPr sz="1100">
                <a:solidFill>
                  <a:srgbClr val="4A433E"/>
                </a:solidFill>
                <a:latin typeface="Calibri"/>
              </a:defRPr>
            </a:pPr>
            <a:r>
              <a:t>A tense, uncomfortable silence follows. Instead of asking about his profession or character, the landlady coldly demands clarification on his skin shade: 'HOW DARK?'</a:t>
            </a:r>
          </a:p>
        </p:txBody>
      </p:sp>
      <p:sp>
        <p:nvSpPr>
          <p:cNvPr id="14" name="Rectangle 13"/>
          <p:cNvSpPr/>
          <p:nvPr/>
        </p:nvSpPr>
        <p:spPr>
          <a:xfrm>
            <a:off x="7260336" y="1737360"/>
            <a:ext cx="2011680" cy="3566160"/>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60336" y="1737360"/>
            <a:ext cx="2011680" cy="54864"/>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97496" y="1901952"/>
            <a:ext cx="1737360" cy="3291840"/>
          </a:xfrm>
          <a:prstGeom prst="rect">
            <a:avLst/>
          </a:prstGeom>
          <a:noFill/>
        </p:spPr>
        <p:txBody>
          <a:bodyPr wrap="square" lIns="0" tIns="0" rIns="0" bIns="0">
            <a:spAutoFit/>
          </a:bodyPr>
          <a:lstStyle/>
          <a:p>
            <a:pPr>
              <a:spcAft>
                <a:spcPts val="400"/>
              </a:spcAft>
              <a:defRPr sz="2000" b="1">
                <a:solidFill>
                  <a:srgbClr val="7C2D37"/>
                </a:solidFill>
                <a:latin typeface="Georgia"/>
              </a:defRPr>
            </a:pPr>
            <a:r>
              <a:t>04</a:t>
            </a:r>
          </a:p>
          <a:p>
            <a:pPr>
              <a:spcAft>
                <a:spcPts val="800"/>
              </a:spcAft>
              <a:defRPr sz="1300" b="1">
                <a:solidFill>
                  <a:srgbClr val="2A2421"/>
                </a:solidFill>
                <a:latin typeface="Georgia"/>
              </a:defRPr>
            </a:pPr>
            <a:r>
              <a:t>Absurd Classification</a:t>
            </a:r>
          </a:p>
          <a:p>
            <a:pPr>
              <a:defRPr sz="1100">
                <a:solidFill>
                  <a:srgbClr val="4A433E"/>
                </a:solidFill>
                <a:latin typeface="Calibri"/>
              </a:defRPr>
            </a:pPr>
            <a:r>
              <a:t>Failing to understand the nuance, the landlady bluntly asks if he is 'light or very dark.' The speaker humorously categorizes his complexion as 'West African sepia.'</a:t>
            </a:r>
          </a:p>
        </p:txBody>
      </p:sp>
      <p:sp>
        <p:nvSpPr>
          <p:cNvPr id="17" name="Rectangle 16"/>
          <p:cNvSpPr/>
          <p:nvPr/>
        </p:nvSpPr>
        <p:spPr>
          <a:xfrm>
            <a:off x="9436608" y="1737360"/>
            <a:ext cx="2011680" cy="3566160"/>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436608" y="1737360"/>
            <a:ext cx="2011680" cy="54864"/>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73768" y="1901952"/>
            <a:ext cx="1737360" cy="3291840"/>
          </a:xfrm>
          <a:prstGeom prst="rect">
            <a:avLst/>
          </a:prstGeom>
          <a:noFill/>
        </p:spPr>
        <p:txBody>
          <a:bodyPr wrap="square" lIns="0" tIns="0" rIns="0" bIns="0">
            <a:spAutoFit/>
          </a:bodyPr>
          <a:lstStyle/>
          <a:p>
            <a:pPr>
              <a:spcAft>
                <a:spcPts val="400"/>
              </a:spcAft>
              <a:defRPr sz="2000" b="1">
                <a:solidFill>
                  <a:srgbClr val="7C2D37"/>
                </a:solidFill>
                <a:latin typeface="Georgia"/>
              </a:defRPr>
            </a:pPr>
            <a:r>
              <a:t>05</a:t>
            </a:r>
          </a:p>
          <a:p>
            <a:pPr>
              <a:spcAft>
                <a:spcPts val="800"/>
              </a:spcAft>
              <a:defRPr sz="1300" b="1">
                <a:solidFill>
                  <a:srgbClr val="2A2421"/>
                </a:solidFill>
                <a:latin typeface="Georgia"/>
              </a:defRPr>
            </a:pPr>
            <a:r>
              <a:t>The Ironic Reversal</a:t>
            </a:r>
          </a:p>
          <a:p>
            <a:pPr>
              <a:defRPr sz="1100">
                <a:solidFill>
                  <a:srgbClr val="4A433E"/>
                </a:solidFill>
                <a:latin typeface="Calibri"/>
              </a:defRPr>
            </a:pPr>
            <a:r>
              <a:t>The speaker playfully explains that his face is sepia, but his palms and feet are lighter. He begs her to inspect him before hanging up—turning racial prejudice into total absurdity.</a:t>
            </a:r>
          </a:p>
        </p:txBody>
      </p:sp>
      <p:sp>
        <p:nvSpPr>
          <p:cNvPr id="20" name="Rectangle 19"/>
          <p:cNvSpPr/>
          <p:nvPr/>
        </p:nvSpPr>
        <p:spPr>
          <a:xfrm>
            <a:off x="731520" y="5486400"/>
            <a:ext cx="10728655" cy="621792"/>
          </a:xfrm>
          <a:prstGeom prst="rect">
            <a:avLst/>
          </a:prstGeom>
          <a:solidFill>
            <a:srgbClr val="F6EEE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596128"/>
            <a:ext cx="10362895" cy="438912"/>
          </a:xfrm>
          <a:prstGeom prst="rect">
            <a:avLst/>
          </a:prstGeom>
          <a:noFill/>
        </p:spPr>
        <p:txBody>
          <a:bodyPr wrap="square" lIns="0" tIns="0" rIns="0" bIns="0">
            <a:spAutoFit/>
          </a:bodyPr>
          <a:lstStyle/>
          <a:p>
            <a:pPr>
              <a:defRPr sz="1200" i="1">
                <a:solidFill>
                  <a:srgbClr val="7C2D37"/>
                </a:solidFill>
                <a:latin typeface="Calibri"/>
              </a:defRPr>
            </a:pPr>
            <a:r>
              <a:t>Key Narrative Movement: The speaker shifts from polite accommodation to intellectual mastery, using humor to expose the landlady's narrow bigotry.</a:t>
            </a:r>
          </a:p>
        </p:txBody>
      </p:sp>
      <p:sp>
        <p:nvSpPr>
          <p:cNvPr id="22" name="Rectangle 21"/>
          <p:cNvSpPr/>
          <p:nvPr/>
        </p:nvSpPr>
        <p:spPr>
          <a:xfrm>
            <a:off x="731520" y="6263640"/>
            <a:ext cx="10728655" cy="9144"/>
          </a:xfrm>
          <a:prstGeom prst="rect">
            <a:avLst/>
          </a:prstGeom>
          <a:solidFill>
            <a:srgbClr val="E2DBD1"/>
          </a:solidFill>
          <a:ln>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6327648"/>
            <a:ext cx="7315200" cy="274320"/>
          </a:xfrm>
          <a:prstGeom prst="rect">
            <a:avLst/>
          </a:prstGeom>
          <a:noFill/>
        </p:spPr>
        <p:txBody>
          <a:bodyPr wrap="square" lIns="0" tIns="0" rIns="0" bIns="0">
            <a:spAutoFit/>
          </a:bodyPr>
          <a:lstStyle/>
          <a:p>
            <a:pPr>
              <a:defRPr sz="950">
                <a:solidFill>
                  <a:srgbClr val="787069"/>
                </a:solidFill>
                <a:latin typeface="Calibri"/>
              </a:defRPr>
            </a:pPr>
            <a:r>
              <a:t>Telephone Conversation — Wole Soyinka | College English Literature Seminar</a:t>
            </a:r>
          </a:p>
        </p:txBody>
      </p:sp>
      <p:sp>
        <p:nvSpPr>
          <p:cNvPr id="24" name="TextBox 23"/>
          <p:cNvSpPr txBox="1"/>
          <p:nvPr/>
        </p:nvSpPr>
        <p:spPr>
          <a:xfrm>
            <a:off x="9631375" y="6327648"/>
            <a:ext cx="1828800" cy="274320"/>
          </a:xfrm>
          <a:prstGeom prst="rect">
            <a:avLst/>
          </a:prstGeom>
          <a:noFill/>
        </p:spPr>
        <p:txBody>
          <a:bodyPr wrap="square" lIns="0" tIns="0" rIns="0" bIns="0">
            <a:spAutoFit/>
          </a:bodyPr>
          <a:lstStyle/>
          <a:p>
            <a:pPr algn="r">
              <a:defRPr sz="950">
                <a:solidFill>
                  <a:srgbClr val="787069"/>
                </a:solidFill>
                <a:latin typeface="Calibri"/>
              </a:defRPr>
            </a:pPr>
            <a:r>
              <a:t>Slide 3 of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051560"/>
          </a:xfrm>
          <a:prstGeom prst="rect">
            <a:avLst/>
          </a:prstGeom>
          <a:noFill/>
        </p:spPr>
        <p:txBody>
          <a:bodyPr wrap="square" lIns="0" tIns="0" rIns="0" bIns="0">
            <a:spAutoFit/>
          </a:bodyPr>
          <a:lstStyle/>
          <a:p>
            <a:pPr>
              <a:spcAft>
                <a:spcPts val="300"/>
              </a:spcAft>
              <a:defRPr sz="1000" b="1">
                <a:solidFill>
                  <a:srgbClr val="7C2D37"/>
                </a:solidFill>
                <a:latin typeface="Calibri"/>
              </a:defRPr>
            </a:pPr>
            <a:r>
              <a:t>THEMATIC ANALYSIS</a:t>
            </a:r>
          </a:p>
          <a:p>
            <a:pPr>
              <a:spcAft>
                <a:spcPts val="200"/>
              </a:spcAft>
              <a:defRPr sz="2600" b="1">
                <a:solidFill>
                  <a:srgbClr val="2A2421"/>
                </a:solidFill>
                <a:latin typeface="Georgia"/>
              </a:defRPr>
            </a:pPr>
            <a:r>
              <a:t>Major Themes &amp; Social Message</a:t>
            </a:r>
          </a:p>
          <a:p>
            <a:pPr>
              <a:defRPr sz="1300" i="1">
                <a:solidFill>
                  <a:srgbClr val="787069"/>
                </a:solidFill>
                <a:latin typeface="Calibri"/>
              </a:defRPr>
            </a:pPr>
            <a:r>
              <a:t>Exploring racial prejudice, human dignity, and everyday hypocrisy</a:t>
            </a:r>
          </a:p>
        </p:txBody>
      </p:sp>
      <p:sp>
        <p:nvSpPr>
          <p:cNvPr id="4" name="Rectangle 3"/>
          <p:cNvSpPr/>
          <p:nvPr/>
        </p:nvSpPr>
        <p:spPr>
          <a:xfrm>
            <a:off x="731520" y="1536192"/>
            <a:ext cx="10728655" cy="13716"/>
          </a:xfrm>
          <a:prstGeom prst="rect">
            <a:avLst/>
          </a:prstGeom>
          <a:solidFill>
            <a:srgbClr val="D8D0C6"/>
          </a:solidFill>
          <a:ln>
            <a:solidFill>
              <a:srgbClr val="D8D0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737360"/>
            <a:ext cx="5230368" cy="1737360"/>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73152" cy="1737360"/>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883664"/>
            <a:ext cx="4864608" cy="1463040"/>
          </a:xfrm>
          <a:prstGeom prst="rect">
            <a:avLst/>
          </a:prstGeom>
          <a:noFill/>
        </p:spPr>
        <p:txBody>
          <a:bodyPr wrap="square" lIns="0" tIns="0" rIns="0" bIns="0">
            <a:spAutoFit/>
          </a:bodyPr>
          <a:lstStyle/>
          <a:p>
            <a:pPr>
              <a:spcAft>
                <a:spcPts val="400"/>
              </a:spcAft>
              <a:defRPr sz="1400" b="1">
                <a:solidFill>
                  <a:srgbClr val="7C2D37"/>
                </a:solidFill>
                <a:latin typeface="Georgia"/>
              </a:defRPr>
            </a:pPr>
            <a:r>
              <a:t>1. Racial Discrimination</a:t>
            </a:r>
          </a:p>
          <a:p>
            <a:pPr>
              <a:defRPr sz="1150">
                <a:solidFill>
                  <a:srgbClr val="4A433E"/>
                </a:solidFill>
                <a:latin typeface="Calibri"/>
              </a:defRPr>
            </a:pPr>
            <a:r>
              <a:t>The speaker encounters prejudice during an ordinary housing inquiry. Soyinka illustrates how racism is not just an abstract ideology, but a concrete daily obstacle that denies people equal access to basic necessities like shelter.</a:t>
            </a:r>
          </a:p>
        </p:txBody>
      </p:sp>
      <p:sp>
        <p:nvSpPr>
          <p:cNvPr id="8" name="Rectangle 7"/>
          <p:cNvSpPr/>
          <p:nvPr/>
        </p:nvSpPr>
        <p:spPr>
          <a:xfrm>
            <a:off x="6227064" y="1737360"/>
            <a:ext cx="5230368" cy="1737360"/>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27064" y="1737360"/>
            <a:ext cx="73152" cy="1737360"/>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883664"/>
            <a:ext cx="4864608" cy="1463040"/>
          </a:xfrm>
          <a:prstGeom prst="rect">
            <a:avLst/>
          </a:prstGeom>
          <a:noFill/>
        </p:spPr>
        <p:txBody>
          <a:bodyPr wrap="square" lIns="0" tIns="0" rIns="0" bIns="0">
            <a:spAutoFit/>
          </a:bodyPr>
          <a:lstStyle/>
          <a:p>
            <a:pPr>
              <a:spcAft>
                <a:spcPts val="400"/>
              </a:spcAft>
              <a:defRPr sz="1400" b="1">
                <a:solidFill>
                  <a:srgbClr val="7C2D37"/>
                </a:solidFill>
                <a:latin typeface="Georgia"/>
              </a:defRPr>
            </a:pPr>
            <a:r>
              <a:t>2. Human Dignity &amp; Self-Respect</a:t>
            </a:r>
          </a:p>
          <a:p>
            <a:pPr>
              <a:defRPr sz="1150">
                <a:solidFill>
                  <a:srgbClr val="4A433E"/>
                </a:solidFill>
                <a:latin typeface="Calibri"/>
              </a:defRPr>
            </a:pPr>
            <a:r>
              <a:t>Despite being subjected to intrusive and insulting questions about his physical appearance, the speaker never loses his composure. He maintains his self-worth and moral dignity, refusing to be reduced to a stereotype.</a:t>
            </a:r>
          </a:p>
        </p:txBody>
      </p:sp>
      <p:sp>
        <p:nvSpPr>
          <p:cNvPr id="11" name="Rectangle 10"/>
          <p:cNvSpPr/>
          <p:nvPr/>
        </p:nvSpPr>
        <p:spPr>
          <a:xfrm>
            <a:off x="731520" y="3657600"/>
            <a:ext cx="5230368" cy="1737360"/>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657600"/>
            <a:ext cx="73152" cy="1737360"/>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0976" y="3803904"/>
            <a:ext cx="4864608" cy="1463040"/>
          </a:xfrm>
          <a:prstGeom prst="rect">
            <a:avLst/>
          </a:prstGeom>
          <a:noFill/>
        </p:spPr>
        <p:txBody>
          <a:bodyPr wrap="square" lIns="0" tIns="0" rIns="0" bIns="0">
            <a:spAutoFit/>
          </a:bodyPr>
          <a:lstStyle/>
          <a:p>
            <a:pPr>
              <a:spcAft>
                <a:spcPts val="400"/>
              </a:spcAft>
              <a:defRPr sz="1400" b="1">
                <a:solidFill>
                  <a:srgbClr val="7C2D37"/>
                </a:solidFill>
                <a:latin typeface="Georgia"/>
              </a:defRPr>
            </a:pPr>
            <a:r>
              <a:t>3. Prejudice &amp; Polite Hypocrisy</a:t>
            </a:r>
          </a:p>
          <a:p>
            <a:pPr>
              <a:defRPr sz="1150">
                <a:solidFill>
                  <a:srgbClr val="4A433E"/>
                </a:solidFill>
                <a:latin typeface="Calibri"/>
              </a:defRPr>
            </a:pPr>
            <a:r>
              <a:t>The landlady adopts a veneer of upper-class politeness, but her polite manner conceals deep-seated bias. Soyinka critiques the hypocrisy of 'respectable' society that practices polite discrimination.</a:t>
            </a:r>
          </a:p>
        </p:txBody>
      </p:sp>
      <p:sp>
        <p:nvSpPr>
          <p:cNvPr id="14" name="Rectangle 13"/>
          <p:cNvSpPr/>
          <p:nvPr/>
        </p:nvSpPr>
        <p:spPr>
          <a:xfrm>
            <a:off x="6227064" y="3657600"/>
            <a:ext cx="5230368" cy="1737360"/>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27064" y="3657600"/>
            <a:ext cx="73152" cy="1737360"/>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3803904"/>
            <a:ext cx="4864608" cy="1463040"/>
          </a:xfrm>
          <a:prstGeom prst="rect">
            <a:avLst/>
          </a:prstGeom>
          <a:noFill/>
        </p:spPr>
        <p:txBody>
          <a:bodyPr wrap="square" lIns="0" tIns="0" rIns="0" bIns="0">
            <a:spAutoFit/>
          </a:bodyPr>
          <a:lstStyle/>
          <a:p>
            <a:pPr>
              <a:spcAft>
                <a:spcPts val="400"/>
              </a:spcAft>
              <a:defRPr sz="1400" b="1">
                <a:solidFill>
                  <a:srgbClr val="7C2D37"/>
                </a:solidFill>
                <a:latin typeface="Georgia"/>
              </a:defRPr>
            </a:pPr>
            <a:r>
              <a:t>4. Identity &amp; Skin Colour</a:t>
            </a:r>
          </a:p>
          <a:p>
            <a:pPr>
              <a:defRPr sz="1150">
                <a:solidFill>
                  <a:srgbClr val="4A433E"/>
                </a:solidFill>
                <a:latin typeface="Calibri"/>
              </a:defRPr>
            </a:pPr>
            <a:r>
              <a:t>The poem attacks the irrational obsession with classifying human worth by skin tone. Soyinka demonstrates that judging a person's intelligence, character, or value by pigmentation is fundamentally absurd.</a:t>
            </a:r>
          </a:p>
        </p:txBody>
      </p:sp>
      <p:sp>
        <p:nvSpPr>
          <p:cNvPr id="17" name="Rectangle 16"/>
          <p:cNvSpPr/>
          <p:nvPr/>
        </p:nvSpPr>
        <p:spPr>
          <a:xfrm>
            <a:off x="731520" y="5532120"/>
            <a:ext cx="10728655" cy="594360"/>
          </a:xfrm>
          <a:prstGeom prst="rect">
            <a:avLst/>
          </a:prstGeom>
          <a:solidFill>
            <a:srgbClr val="F6EEE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660136"/>
            <a:ext cx="10362895" cy="411480"/>
          </a:xfrm>
          <a:prstGeom prst="rect">
            <a:avLst/>
          </a:prstGeom>
          <a:noFill/>
        </p:spPr>
        <p:txBody>
          <a:bodyPr wrap="square" lIns="0" tIns="0" rIns="0" bIns="0">
            <a:spAutoFit/>
          </a:bodyPr>
          <a:lstStyle/>
          <a:p>
            <a:pPr>
              <a:defRPr sz="1250" b="1">
                <a:solidFill>
                  <a:srgbClr val="7C2D37"/>
                </a:solidFill>
                <a:latin typeface="Georgia"/>
              </a:defRPr>
            </a:pPr>
            <a:r>
              <a:t>Concluding Insight: A person's character, intellect, and humanity matter far more than their skin colour.</a:t>
            </a:r>
          </a:p>
        </p:txBody>
      </p:sp>
      <p:sp>
        <p:nvSpPr>
          <p:cNvPr id="19" name="Rectangle 18"/>
          <p:cNvSpPr/>
          <p:nvPr/>
        </p:nvSpPr>
        <p:spPr>
          <a:xfrm>
            <a:off x="731520" y="6263640"/>
            <a:ext cx="10728655" cy="9144"/>
          </a:xfrm>
          <a:prstGeom prst="rect">
            <a:avLst/>
          </a:prstGeom>
          <a:solidFill>
            <a:srgbClr val="E2DBD1"/>
          </a:solidFill>
          <a:ln>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6327648"/>
            <a:ext cx="7315200" cy="274320"/>
          </a:xfrm>
          <a:prstGeom prst="rect">
            <a:avLst/>
          </a:prstGeom>
          <a:noFill/>
        </p:spPr>
        <p:txBody>
          <a:bodyPr wrap="square" lIns="0" tIns="0" rIns="0" bIns="0">
            <a:spAutoFit/>
          </a:bodyPr>
          <a:lstStyle/>
          <a:p>
            <a:pPr>
              <a:defRPr sz="950">
                <a:solidFill>
                  <a:srgbClr val="787069"/>
                </a:solidFill>
                <a:latin typeface="Calibri"/>
              </a:defRPr>
            </a:pPr>
            <a:r>
              <a:t>Telephone Conversation — Wole Soyinka | College English Literature Seminar</a:t>
            </a:r>
          </a:p>
        </p:txBody>
      </p:sp>
      <p:sp>
        <p:nvSpPr>
          <p:cNvPr id="21" name="TextBox 20"/>
          <p:cNvSpPr txBox="1"/>
          <p:nvPr/>
        </p:nvSpPr>
        <p:spPr>
          <a:xfrm>
            <a:off x="9631375" y="6327648"/>
            <a:ext cx="1828800" cy="274320"/>
          </a:xfrm>
          <a:prstGeom prst="rect">
            <a:avLst/>
          </a:prstGeom>
          <a:noFill/>
        </p:spPr>
        <p:txBody>
          <a:bodyPr wrap="square" lIns="0" tIns="0" rIns="0" bIns="0">
            <a:spAutoFit/>
          </a:bodyPr>
          <a:lstStyle/>
          <a:p>
            <a:pPr algn="r">
              <a:defRPr sz="950">
                <a:solidFill>
                  <a:srgbClr val="787069"/>
                </a:solidFill>
                <a:latin typeface="Calibri"/>
              </a:defRPr>
            </a:pPr>
            <a:r>
              <a:t>Slide 4 of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051560"/>
          </a:xfrm>
          <a:prstGeom prst="rect">
            <a:avLst/>
          </a:prstGeom>
          <a:noFill/>
        </p:spPr>
        <p:txBody>
          <a:bodyPr wrap="square" lIns="0" tIns="0" rIns="0" bIns="0">
            <a:spAutoFit/>
          </a:bodyPr>
          <a:lstStyle/>
          <a:p>
            <a:pPr>
              <a:spcAft>
                <a:spcPts val="300"/>
              </a:spcAft>
              <a:defRPr sz="1000" b="1">
                <a:solidFill>
                  <a:srgbClr val="7C2D37"/>
                </a:solidFill>
                <a:latin typeface="Calibri"/>
              </a:defRPr>
            </a:pPr>
            <a:r>
              <a:t>POETIC CRAFT</a:t>
            </a:r>
          </a:p>
          <a:p>
            <a:pPr>
              <a:spcAft>
                <a:spcPts val="200"/>
              </a:spcAft>
              <a:defRPr sz="2600" b="1">
                <a:solidFill>
                  <a:srgbClr val="2A2421"/>
                </a:solidFill>
                <a:latin typeface="Georgia"/>
              </a:defRPr>
            </a:pPr>
            <a:r>
              <a:t>Literary Devices &amp; Techniques</a:t>
            </a:r>
          </a:p>
          <a:p>
            <a:pPr>
              <a:defRPr sz="1300" i="1">
                <a:solidFill>
                  <a:srgbClr val="787069"/>
                </a:solidFill>
                <a:latin typeface="Calibri"/>
              </a:defRPr>
            </a:pPr>
            <a:r>
              <a:t>How Soyinka uses irony, satire, and imagery to expose prejudice</a:t>
            </a:r>
          </a:p>
        </p:txBody>
      </p:sp>
      <p:sp>
        <p:nvSpPr>
          <p:cNvPr id="4" name="Rectangle 3"/>
          <p:cNvSpPr/>
          <p:nvPr/>
        </p:nvSpPr>
        <p:spPr>
          <a:xfrm>
            <a:off x="731520" y="1536192"/>
            <a:ext cx="10728655" cy="13716"/>
          </a:xfrm>
          <a:prstGeom prst="rect">
            <a:avLst/>
          </a:prstGeom>
          <a:solidFill>
            <a:srgbClr val="D8D0C6"/>
          </a:solidFill>
          <a:ln>
            <a:solidFill>
              <a:srgbClr val="D8D0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737360"/>
            <a:ext cx="5230368" cy="1115568"/>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73152" cy="1115568"/>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828800"/>
            <a:ext cx="4910328" cy="950976"/>
          </a:xfrm>
          <a:prstGeom prst="rect">
            <a:avLst/>
          </a:prstGeom>
          <a:noFill/>
        </p:spPr>
        <p:txBody>
          <a:bodyPr wrap="square" lIns="0" tIns="0" rIns="0" bIns="0">
            <a:spAutoFit/>
          </a:bodyPr>
          <a:lstStyle/>
          <a:p>
            <a:pPr>
              <a:spcAft>
                <a:spcPts val="200"/>
              </a:spcAft>
              <a:defRPr sz="1300" b="1">
                <a:solidFill>
                  <a:srgbClr val="7C2D37"/>
                </a:solidFill>
                <a:latin typeface="Georgia"/>
              </a:defRPr>
            </a:pPr>
            <a:r>
              <a:t>Irony</a:t>
            </a:r>
          </a:p>
          <a:p>
            <a:pPr>
              <a:defRPr sz="1100">
                <a:solidFill>
                  <a:srgbClr val="4A433E"/>
                </a:solidFill>
                <a:latin typeface="Calibri"/>
              </a:defRPr>
            </a:pPr>
            <a:r>
              <a:t>The speaker uses exaggerated courtesy and intellectual vocabulary to address an ignorant question. This exposes the deep irony that the African caller is far more cultured and civilized than the British landlady.</a:t>
            </a:r>
          </a:p>
        </p:txBody>
      </p:sp>
      <p:sp>
        <p:nvSpPr>
          <p:cNvPr id="8" name="Rectangle 7"/>
          <p:cNvSpPr/>
          <p:nvPr/>
        </p:nvSpPr>
        <p:spPr>
          <a:xfrm>
            <a:off x="731520" y="2971800"/>
            <a:ext cx="5230368" cy="1115568"/>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971800"/>
            <a:ext cx="73152" cy="1115568"/>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3063240"/>
            <a:ext cx="4910328" cy="950976"/>
          </a:xfrm>
          <a:prstGeom prst="rect">
            <a:avLst/>
          </a:prstGeom>
          <a:noFill/>
        </p:spPr>
        <p:txBody>
          <a:bodyPr wrap="square" lIns="0" tIns="0" rIns="0" bIns="0">
            <a:spAutoFit/>
          </a:bodyPr>
          <a:lstStyle/>
          <a:p>
            <a:pPr>
              <a:spcAft>
                <a:spcPts val="200"/>
              </a:spcAft>
              <a:defRPr sz="1300" b="1">
                <a:solidFill>
                  <a:srgbClr val="7C2D37"/>
                </a:solidFill>
                <a:latin typeface="Georgia"/>
              </a:defRPr>
            </a:pPr>
            <a:r>
              <a:t>Satire</a:t>
            </a:r>
          </a:p>
          <a:p>
            <a:pPr>
              <a:defRPr sz="1100">
                <a:solidFill>
                  <a:srgbClr val="4A433E"/>
                </a:solidFill>
                <a:latin typeface="Calibri"/>
              </a:defRPr>
            </a:pPr>
            <a:r>
              <a:t>Soyinka relies on biting humor and mockery to attack racism. Rather than delivering an angry lecture, he ridicules the landlady's obsession with skin tones, stripping bigotry of its authority.</a:t>
            </a:r>
          </a:p>
        </p:txBody>
      </p:sp>
      <p:sp>
        <p:nvSpPr>
          <p:cNvPr id="11" name="Rectangle 10"/>
          <p:cNvSpPr/>
          <p:nvPr/>
        </p:nvSpPr>
        <p:spPr>
          <a:xfrm>
            <a:off x="731520" y="4206240"/>
            <a:ext cx="5230368" cy="1115568"/>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206240"/>
            <a:ext cx="73152" cy="1115568"/>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297680"/>
            <a:ext cx="4910328" cy="950976"/>
          </a:xfrm>
          <a:prstGeom prst="rect">
            <a:avLst/>
          </a:prstGeom>
          <a:noFill/>
        </p:spPr>
        <p:txBody>
          <a:bodyPr wrap="square" lIns="0" tIns="0" rIns="0" bIns="0">
            <a:spAutoFit/>
          </a:bodyPr>
          <a:lstStyle/>
          <a:p>
            <a:pPr>
              <a:spcAft>
                <a:spcPts val="200"/>
              </a:spcAft>
              <a:defRPr sz="1300" b="1">
                <a:solidFill>
                  <a:srgbClr val="7C2D37"/>
                </a:solidFill>
                <a:latin typeface="Georgia"/>
              </a:defRPr>
            </a:pPr>
            <a:r>
              <a:t>Imagery</a:t>
            </a:r>
          </a:p>
          <a:p>
            <a:pPr>
              <a:defRPr sz="1100">
                <a:solidFill>
                  <a:srgbClr val="4A433E"/>
                </a:solidFill>
                <a:latin typeface="Calibri"/>
              </a:defRPr>
            </a:pPr>
            <a:r>
              <a:t>Vivid sensory details bring the scene alive: the 'red telephone booth,' 'red omnibus,' and shades like 'West African sepia' and 'peroxide blonde.' These images contrast external colours with internal moral reality.</a:t>
            </a:r>
          </a:p>
        </p:txBody>
      </p:sp>
      <p:sp>
        <p:nvSpPr>
          <p:cNvPr id="14" name="Rectangle 13"/>
          <p:cNvSpPr/>
          <p:nvPr/>
        </p:nvSpPr>
        <p:spPr>
          <a:xfrm>
            <a:off x="6227064" y="1737360"/>
            <a:ext cx="5230368" cy="1115568"/>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27064" y="1737360"/>
            <a:ext cx="73152" cy="1115568"/>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1828800"/>
            <a:ext cx="4910328" cy="950976"/>
          </a:xfrm>
          <a:prstGeom prst="rect">
            <a:avLst/>
          </a:prstGeom>
          <a:noFill/>
        </p:spPr>
        <p:txBody>
          <a:bodyPr wrap="square" lIns="0" tIns="0" rIns="0" bIns="0">
            <a:spAutoFit/>
          </a:bodyPr>
          <a:lstStyle/>
          <a:p>
            <a:pPr>
              <a:spcAft>
                <a:spcPts val="200"/>
              </a:spcAft>
              <a:defRPr sz="1300" b="1">
                <a:solidFill>
                  <a:srgbClr val="7C2D37"/>
                </a:solidFill>
                <a:latin typeface="Georgia"/>
              </a:defRPr>
            </a:pPr>
            <a:r>
              <a:t>Contrast</a:t>
            </a:r>
          </a:p>
          <a:p>
            <a:pPr>
              <a:defRPr sz="1100">
                <a:solidFill>
                  <a:srgbClr val="4A433E"/>
                </a:solidFill>
                <a:latin typeface="Calibri"/>
              </a:defRPr>
            </a:pPr>
            <a:r>
              <a:t>A sharp contrast is drawn between the speaker's calm, articulate eloquence and the landlady's blunt, insensitive questions. This subverts colonial stereotypes about who possesses refinement.</a:t>
            </a:r>
          </a:p>
        </p:txBody>
      </p:sp>
      <p:sp>
        <p:nvSpPr>
          <p:cNvPr id="17" name="Rectangle 16"/>
          <p:cNvSpPr/>
          <p:nvPr/>
        </p:nvSpPr>
        <p:spPr>
          <a:xfrm>
            <a:off x="6227064" y="2971800"/>
            <a:ext cx="5230368" cy="1115568"/>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27064" y="2971800"/>
            <a:ext cx="73152" cy="1115568"/>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8232" y="3063240"/>
            <a:ext cx="4910328" cy="950976"/>
          </a:xfrm>
          <a:prstGeom prst="rect">
            <a:avLst/>
          </a:prstGeom>
          <a:noFill/>
        </p:spPr>
        <p:txBody>
          <a:bodyPr wrap="square" lIns="0" tIns="0" rIns="0" bIns="0">
            <a:spAutoFit/>
          </a:bodyPr>
          <a:lstStyle/>
          <a:p>
            <a:pPr>
              <a:spcAft>
                <a:spcPts val="200"/>
              </a:spcAft>
              <a:defRPr sz="1300" b="1">
                <a:solidFill>
                  <a:srgbClr val="7C2D37"/>
                </a:solidFill>
                <a:latin typeface="Georgia"/>
              </a:defRPr>
            </a:pPr>
            <a:r>
              <a:t>Dialogue</a:t>
            </a:r>
          </a:p>
          <a:p>
            <a:pPr>
              <a:defRPr sz="1100">
                <a:solidFill>
                  <a:srgbClr val="4A433E"/>
                </a:solidFill>
                <a:latin typeface="Calibri"/>
              </a:defRPr>
            </a:pPr>
            <a:r>
              <a:t>The poem is structured as an authentic, overheard telephone dialogue. This gives the interaction immediate dramatic tension and realism, making the audience feel the sting of discrimination firsthand.</a:t>
            </a:r>
          </a:p>
        </p:txBody>
      </p:sp>
      <p:sp>
        <p:nvSpPr>
          <p:cNvPr id="20" name="Rectangle 19"/>
          <p:cNvSpPr/>
          <p:nvPr/>
        </p:nvSpPr>
        <p:spPr>
          <a:xfrm>
            <a:off x="6227064" y="4206240"/>
            <a:ext cx="5230368" cy="1115568"/>
          </a:xfrm>
          <a:prstGeom prst="rect">
            <a:avLst/>
          </a:prstGeom>
          <a:solidFill>
            <a:srgbClr val="F6EEE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315968"/>
            <a:ext cx="4864608" cy="914400"/>
          </a:xfrm>
          <a:prstGeom prst="rect">
            <a:avLst/>
          </a:prstGeom>
          <a:noFill/>
        </p:spPr>
        <p:txBody>
          <a:bodyPr wrap="square" lIns="0" tIns="0" rIns="0" bIns="0">
            <a:spAutoFit/>
          </a:bodyPr>
          <a:lstStyle/>
          <a:p>
            <a:pPr>
              <a:spcAft>
                <a:spcPts val="300"/>
              </a:spcAft>
              <a:defRPr sz="1200" b="1">
                <a:solidFill>
                  <a:srgbClr val="7C2D37"/>
                </a:solidFill>
                <a:latin typeface="Georgia"/>
              </a:defRPr>
            </a:pPr>
            <a:r>
              <a:t>How Poetic Craft Serves the Social Message</a:t>
            </a:r>
          </a:p>
          <a:p>
            <a:pPr>
              <a:defRPr sz="1050" i="1">
                <a:solidFill>
                  <a:srgbClr val="4A433E"/>
                </a:solidFill>
                <a:latin typeface="Calibri"/>
              </a:defRPr>
            </a:pPr>
            <a:r>
              <a:t>By fusing realistic dialogue with sharp irony and satire, Soyinka avoids preaching. Instead, he empowers the speaker to intellectually dismantle prejudice with wit and composure.</a:t>
            </a:r>
          </a:p>
        </p:txBody>
      </p:sp>
      <p:sp>
        <p:nvSpPr>
          <p:cNvPr id="22" name="Rectangle 21"/>
          <p:cNvSpPr/>
          <p:nvPr/>
        </p:nvSpPr>
        <p:spPr>
          <a:xfrm>
            <a:off x="731520" y="5532120"/>
            <a:ext cx="10728655" cy="594360"/>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641848"/>
            <a:ext cx="10362895" cy="411480"/>
          </a:xfrm>
          <a:prstGeom prst="rect">
            <a:avLst/>
          </a:prstGeom>
          <a:noFill/>
        </p:spPr>
        <p:txBody>
          <a:bodyPr wrap="square" lIns="0" tIns="0" rIns="0" bIns="0">
            <a:spAutoFit/>
          </a:bodyPr>
          <a:lstStyle/>
          <a:p>
            <a:pPr>
              <a:defRPr sz="1150" b="1">
                <a:solidFill>
                  <a:srgbClr val="7C2D37"/>
                </a:solidFill>
                <a:latin typeface="Calibri"/>
              </a:defRPr>
            </a:pPr>
            <a:r>
              <a:t>Literary Impact: Soyinka turns a humiliating situation into an intellectual victory, proving that humor is a powerful weapon against ignorance.</a:t>
            </a:r>
          </a:p>
        </p:txBody>
      </p:sp>
      <p:sp>
        <p:nvSpPr>
          <p:cNvPr id="24" name="Rectangle 23"/>
          <p:cNvSpPr/>
          <p:nvPr/>
        </p:nvSpPr>
        <p:spPr>
          <a:xfrm>
            <a:off x="731520" y="6263640"/>
            <a:ext cx="10728655" cy="9144"/>
          </a:xfrm>
          <a:prstGeom prst="rect">
            <a:avLst/>
          </a:prstGeom>
          <a:solidFill>
            <a:srgbClr val="E2DBD1"/>
          </a:solidFill>
          <a:ln>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6327648"/>
            <a:ext cx="7315200" cy="274320"/>
          </a:xfrm>
          <a:prstGeom prst="rect">
            <a:avLst/>
          </a:prstGeom>
          <a:noFill/>
        </p:spPr>
        <p:txBody>
          <a:bodyPr wrap="square" lIns="0" tIns="0" rIns="0" bIns="0">
            <a:spAutoFit/>
          </a:bodyPr>
          <a:lstStyle/>
          <a:p>
            <a:pPr>
              <a:defRPr sz="950">
                <a:solidFill>
                  <a:srgbClr val="787069"/>
                </a:solidFill>
                <a:latin typeface="Calibri"/>
              </a:defRPr>
            </a:pPr>
            <a:r>
              <a:t>Telephone Conversation — Wole Soyinka | College English Literature Seminar</a:t>
            </a:r>
          </a:p>
        </p:txBody>
      </p:sp>
      <p:sp>
        <p:nvSpPr>
          <p:cNvPr id="26" name="TextBox 25"/>
          <p:cNvSpPr txBox="1"/>
          <p:nvPr/>
        </p:nvSpPr>
        <p:spPr>
          <a:xfrm>
            <a:off x="9631375" y="6327648"/>
            <a:ext cx="1828800" cy="274320"/>
          </a:xfrm>
          <a:prstGeom prst="rect">
            <a:avLst/>
          </a:prstGeom>
          <a:noFill/>
        </p:spPr>
        <p:txBody>
          <a:bodyPr wrap="square" lIns="0" tIns="0" rIns="0" bIns="0">
            <a:spAutoFit/>
          </a:bodyPr>
          <a:lstStyle/>
          <a:p>
            <a:pPr algn="r">
              <a:defRPr sz="950">
                <a:solidFill>
                  <a:srgbClr val="787069"/>
                </a:solidFill>
                <a:latin typeface="Calibri"/>
              </a:defRPr>
            </a:pPr>
            <a:r>
              <a:t>Slide 5 of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051560"/>
          </a:xfrm>
          <a:prstGeom prst="rect">
            <a:avLst/>
          </a:prstGeom>
          <a:noFill/>
        </p:spPr>
        <p:txBody>
          <a:bodyPr wrap="square" lIns="0" tIns="0" rIns="0" bIns="0">
            <a:spAutoFit/>
          </a:bodyPr>
          <a:lstStyle/>
          <a:p>
            <a:pPr>
              <a:spcAft>
                <a:spcPts val="300"/>
              </a:spcAft>
              <a:defRPr sz="1000" b="1">
                <a:solidFill>
                  <a:srgbClr val="7C2D37"/>
                </a:solidFill>
                <a:latin typeface="Calibri"/>
              </a:defRPr>
            </a:pPr>
            <a:r>
              <a:t>SUMMARY &amp; REFLECTION</a:t>
            </a:r>
          </a:p>
          <a:p>
            <a:pPr>
              <a:spcAft>
                <a:spcPts val="200"/>
              </a:spcAft>
              <a:defRPr sz="2600" b="1">
                <a:solidFill>
                  <a:srgbClr val="2A2421"/>
                </a:solidFill>
                <a:latin typeface="Georgia"/>
              </a:defRPr>
            </a:pPr>
            <a:r>
              <a:t>Conclusion: The Enduring Message</a:t>
            </a:r>
          </a:p>
          <a:p>
            <a:pPr>
              <a:defRPr sz="1300" i="1">
                <a:solidFill>
                  <a:srgbClr val="787069"/>
                </a:solidFill>
                <a:latin typeface="Calibri"/>
              </a:defRPr>
            </a:pPr>
            <a:r>
              <a:t>Why Soyinka's poem continues to resonate in contemporary society</a:t>
            </a:r>
          </a:p>
        </p:txBody>
      </p:sp>
      <p:sp>
        <p:nvSpPr>
          <p:cNvPr id="4" name="Rectangle 3"/>
          <p:cNvSpPr/>
          <p:nvPr/>
        </p:nvSpPr>
        <p:spPr>
          <a:xfrm>
            <a:off x="731520" y="1536192"/>
            <a:ext cx="10728655" cy="13716"/>
          </a:xfrm>
          <a:prstGeom prst="rect">
            <a:avLst/>
          </a:prstGeom>
          <a:solidFill>
            <a:srgbClr val="D8D0C6"/>
          </a:solidFill>
          <a:ln>
            <a:solidFill>
              <a:srgbClr val="D8D0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737360"/>
            <a:ext cx="2542032" cy="2011680"/>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2542032" cy="54864"/>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883664"/>
            <a:ext cx="2212848" cy="1755648"/>
          </a:xfrm>
          <a:prstGeom prst="rect">
            <a:avLst/>
          </a:prstGeom>
          <a:noFill/>
        </p:spPr>
        <p:txBody>
          <a:bodyPr wrap="square" lIns="0" tIns="0" rIns="0" bIns="0">
            <a:spAutoFit/>
          </a:bodyPr>
          <a:lstStyle/>
          <a:p>
            <a:pPr>
              <a:spcAft>
                <a:spcPts val="600"/>
              </a:spcAft>
              <a:defRPr sz="1300" b="1">
                <a:solidFill>
                  <a:srgbClr val="7C2D37"/>
                </a:solidFill>
                <a:latin typeface="Georgia"/>
              </a:defRPr>
            </a:pPr>
            <a:r>
              <a:t>Racism Reduces Humanity</a:t>
            </a:r>
          </a:p>
          <a:p>
            <a:pPr>
              <a:defRPr sz="1100">
                <a:solidFill>
                  <a:srgbClr val="4A433E"/>
                </a:solidFill>
                <a:latin typeface="Calibri"/>
              </a:defRPr>
            </a:pPr>
            <a:r>
              <a:t>Prejudice strips individuals of their intellect, character, and uniqueness, reducing complex human souls to surface physical traits.</a:t>
            </a:r>
          </a:p>
        </p:txBody>
      </p:sp>
      <p:sp>
        <p:nvSpPr>
          <p:cNvPr id="8" name="Rectangle 7"/>
          <p:cNvSpPr/>
          <p:nvPr/>
        </p:nvSpPr>
        <p:spPr>
          <a:xfrm>
            <a:off x="3456432" y="1737360"/>
            <a:ext cx="2542032" cy="2011680"/>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56432" y="1737360"/>
            <a:ext cx="2542032" cy="54864"/>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21024" y="1883664"/>
            <a:ext cx="2212848" cy="1755648"/>
          </a:xfrm>
          <a:prstGeom prst="rect">
            <a:avLst/>
          </a:prstGeom>
          <a:noFill/>
        </p:spPr>
        <p:txBody>
          <a:bodyPr wrap="square" lIns="0" tIns="0" rIns="0" bIns="0">
            <a:spAutoFit/>
          </a:bodyPr>
          <a:lstStyle/>
          <a:p>
            <a:pPr>
              <a:spcAft>
                <a:spcPts val="600"/>
              </a:spcAft>
              <a:defRPr sz="1300" b="1">
                <a:solidFill>
                  <a:srgbClr val="7C2D37"/>
                </a:solidFill>
                <a:latin typeface="Georgia"/>
              </a:defRPr>
            </a:pPr>
            <a:r>
              <a:t>Discrimination Denies Dignity</a:t>
            </a:r>
          </a:p>
          <a:p>
            <a:pPr>
              <a:defRPr sz="1100">
                <a:solidFill>
                  <a:srgbClr val="4A433E"/>
                </a:solidFill>
                <a:latin typeface="Calibri"/>
              </a:defRPr>
            </a:pPr>
            <a:r>
              <a:t>Everyday bias creates unjust barriers, denying people basic human rights such as equal respect, housing, and social inclusion.</a:t>
            </a:r>
          </a:p>
        </p:txBody>
      </p:sp>
      <p:sp>
        <p:nvSpPr>
          <p:cNvPr id="11" name="Rectangle 10"/>
          <p:cNvSpPr/>
          <p:nvPr/>
        </p:nvSpPr>
        <p:spPr>
          <a:xfrm>
            <a:off x="6181344" y="1737360"/>
            <a:ext cx="2542032" cy="2011680"/>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81344" y="1737360"/>
            <a:ext cx="2542032" cy="54864"/>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5936" y="1883664"/>
            <a:ext cx="2212848" cy="1755648"/>
          </a:xfrm>
          <a:prstGeom prst="rect">
            <a:avLst/>
          </a:prstGeom>
          <a:noFill/>
        </p:spPr>
        <p:txBody>
          <a:bodyPr wrap="square" lIns="0" tIns="0" rIns="0" bIns="0">
            <a:spAutoFit/>
          </a:bodyPr>
          <a:lstStyle/>
          <a:p>
            <a:pPr>
              <a:spcAft>
                <a:spcPts val="600"/>
              </a:spcAft>
              <a:defRPr sz="1300" b="1">
                <a:solidFill>
                  <a:srgbClr val="7C2D37"/>
                </a:solidFill>
                <a:latin typeface="Georgia"/>
              </a:defRPr>
            </a:pPr>
            <a:r>
              <a:t>Wit as Moral Resistance</a:t>
            </a:r>
          </a:p>
          <a:p>
            <a:pPr>
              <a:defRPr sz="1100">
                <a:solidFill>
                  <a:srgbClr val="4A433E"/>
                </a:solidFill>
                <a:latin typeface="Calibri"/>
              </a:defRPr>
            </a:pPr>
            <a:r>
              <a:t>Humour and irony can effectively disarm bigotry, exposing the irrationality and foolishness of racial intolerance.</a:t>
            </a:r>
          </a:p>
        </p:txBody>
      </p:sp>
      <p:sp>
        <p:nvSpPr>
          <p:cNvPr id="14" name="Rectangle 13"/>
          <p:cNvSpPr/>
          <p:nvPr/>
        </p:nvSpPr>
        <p:spPr>
          <a:xfrm>
            <a:off x="8906256" y="1737360"/>
            <a:ext cx="2542032" cy="2011680"/>
          </a:xfrm>
          <a:prstGeom prst="rect">
            <a:avLst/>
          </a:prstGeom>
          <a:solidFill>
            <a:srgbClr val="FFFFFF"/>
          </a:solidFill>
          <a:ln w="9525">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906256" y="1737360"/>
            <a:ext cx="2542032" cy="54864"/>
          </a:xfrm>
          <a:prstGeom prst="rect">
            <a:avLst/>
          </a:prstGeom>
          <a:solidFill>
            <a:srgbClr val="7C2D37"/>
          </a:solidFill>
          <a:ln>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70848" y="1883664"/>
            <a:ext cx="2212848" cy="1755648"/>
          </a:xfrm>
          <a:prstGeom prst="rect">
            <a:avLst/>
          </a:prstGeom>
          <a:noFill/>
        </p:spPr>
        <p:txBody>
          <a:bodyPr wrap="square" lIns="0" tIns="0" rIns="0" bIns="0">
            <a:spAutoFit/>
          </a:bodyPr>
          <a:lstStyle/>
          <a:p>
            <a:pPr>
              <a:spcAft>
                <a:spcPts val="600"/>
              </a:spcAft>
              <a:defRPr sz="1300" b="1">
                <a:solidFill>
                  <a:srgbClr val="7C2D37"/>
                </a:solidFill>
                <a:latin typeface="Georgia"/>
              </a:defRPr>
            </a:pPr>
            <a:r>
              <a:t>Universal Relevance</a:t>
            </a:r>
          </a:p>
          <a:p>
            <a:pPr>
              <a:defRPr sz="1100">
                <a:solidFill>
                  <a:srgbClr val="4A433E"/>
                </a:solidFill>
                <a:latin typeface="Calibri"/>
              </a:defRPr>
            </a:pPr>
            <a:r>
              <a:t>Written in the 1960s, the poem remains an urgent reminder for modern societies to judge individuals by character, not appearance.</a:t>
            </a:r>
          </a:p>
        </p:txBody>
      </p:sp>
      <p:sp>
        <p:nvSpPr>
          <p:cNvPr id="17" name="Rectangle 16"/>
          <p:cNvSpPr/>
          <p:nvPr/>
        </p:nvSpPr>
        <p:spPr>
          <a:xfrm>
            <a:off x="731520" y="3977639"/>
            <a:ext cx="10728655" cy="1463040"/>
          </a:xfrm>
          <a:prstGeom prst="rect">
            <a:avLst/>
          </a:prstGeom>
          <a:solidFill>
            <a:srgbClr val="FFFFFF"/>
          </a:solidFill>
          <a:ln w="19050">
            <a:solidFill>
              <a:srgbClr val="7C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4142231"/>
            <a:ext cx="9997135" cy="1143000"/>
          </a:xfrm>
          <a:prstGeom prst="rect">
            <a:avLst/>
          </a:prstGeom>
          <a:noFill/>
        </p:spPr>
        <p:txBody>
          <a:bodyPr wrap="square" lIns="0" tIns="0" rIns="0" bIns="0">
            <a:spAutoFit/>
          </a:bodyPr>
          <a:lstStyle/>
          <a:p>
            <a:pPr algn="ctr">
              <a:spcAft>
                <a:spcPts val="600"/>
              </a:spcAft>
              <a:defRPr sz="1000" b="1">
                <a:solidFill>
                  <a:srgbClr val="7C2D37"/>
                </a:solidFill>
                <a:latin typeface="Calibri"/>
              </a:defRPr>
            </a:pPr>
            <a:r>
              <a:t>CORE SEMINAR TAKEAWAY</a:t>
            </a:r>
          </a:p>
          <a:p>
            <a:pPr algn="ctr">
              <a:spcAft>
                <a:spcPts val="500"/>
              </a:spcAft>
              <a:defRPr sz="1800" b="1" i="1">
                <a:solidFill>
                  <a:srgbClr val="2A2421"/>
                </a:solidFill>
                <a:latin typeface="Georgia"/>
              </a:defRPr>
            </a:pPr>
            <a:r>
              <a:t>“Every person deserves equal dignity and respect, regardless of skin colour.”</a:t>
            </a:r>
          </a:p>
          <a:p>
            <a:pPr algn="ctr">
              <a:defRPr sz="1200">
                <a:solidFill>
                  <a:srgbClr val="787069"/>
                </a:solidFill>
                <a:latin typeface="Calibri"/>
              </a:defRPr>
            </a:pPr>
            <a:r>
              <a:t>Human dignity has no colour, and equality is a right, not a privilege.</a:t>
            </a:r>
          </a:p>
        </p:txBody>
      </p:sp>
      <p:sp>
        <p:nvSpPr>
          <p:cNvPr id="19" name="TextBox 18"/>
          <p:cNvSpPr txBox="1"/>
          <p:nvPr/>
        </p:nvSpPr>
        <p:spPr>
          <a:xfrm>
            <a:off x="731520" y="5596128"/>
            <a:ext cx="10728655" cy="411480"/>
          </a:xfrm>
          <a:prstGeom prst="rect">
            <a:avLst/>
          </a:prstGeom>
          <a:noFill/>
        </p:spPr>
        <p:txBody>
          <a:bodyPr wrap="square" lIns="0" tIns="0" rIns="0" bIns="0">
            <a:spAutoFit/>
          </a:bodyPr>
          <a:lstStyle/>
          <a:p>
            <a:pPr algn="ctr">
              <a:defRPr sz="1150" i="1">
                <a:solidFill>
                  <a:srgbClr val="787069"/>
                </a:solidFill>
                <a:latin typeface="Calibri"/>
              </a:defRPr>
            </a:pPr>
            <a:r>
              <a:t>Thank you for your attention • Questions and seminar discussion are warmly welcomed.</a:t>
            </a:r>
          </a:p>
        </p:txBody>
      </p:sp>
      <p:sp>
        <p:nvSpPr>
          <p:cNvPr id="20" name="Rectangle 19"/>
          <p:cNvSpPr/>
          <p:nvPr/>
        </p:nvSpPr>
        <p:spPr>
          <a:xfrm>
            <a:off x="731520" y="6263640"/>
            <a:ext cx="10728655" cy="9144"/>
          </a:xfrm>
          <a:prstGeom prst="rect">
            <a:avLst/>
          </a:prstGeom>
          <a:solidFill>
            <a:srgbClr val="E2DBD1"/>
          </a:solidFill>
          <a:ln>
            <a:solidFill>
              <a:srgbClr val="E2DB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327648"/>
            <a:ext cx="7315200" cy="274320"/>
          </a:xfrm>
          <a:prstGeom prst="rect">
            <a:avLst/>
          </a:prstGeom>
          <a:noFill/>
        </p:spPr>
        <p:txBody>
          <a:bodyPr wrap="square" lIns="0" tIns="0" rIns="0" bIns="0">
            <a:spAutoFit/>
          </a:bodyPr>
          <a:lstStyle/>
          <a:p>
            <a:pPr>
              <a:defRPr sz="950">
                <a:solidFill>
                  <a:srgbClr val="787069"/>
                </a:solidFill>
                <a:latin typeface="Calibri"/>
              </a:defRPr>
            </a:pPr>
            <a:r>
              <a:t>Telephone Conversation — Wole Soyinka | College English Literature Seminar</a:t>
            </a:r>
          </a:p>
        </p:txBody>
      </p:sp>
      <p:sp>
        <p:nvSpPr>
          <p:cNvPr id="22" name="TextBox 21"/>
          <p:cNvSpPr txBox="1"/>
          <p:nvPr/>
        </p:nvSpPr>
        <p:spPr>
          <a:xfrm>
            <a:off x="9631375" y="6327648"/>
            <a:ext cx="1828800" cy="274320"/>
          </a:xfrm>
          <a:prstGeom prst="rect">
            <a:avLst/>
          </a:prstGeom>
          <a:noFill/>
        </p:spPr>
        <p:txBody>
          <a:bodyPr wrap="square" lIns="0" tIns="0" rIns="0" bIns="0">
            <a:spAutoFit/>
          </a:bodyPr>
          <a:lstStyle/>
          <a:p>
            <a:pPr algn="r">
              <a:defRPr sz="950">
                <a:solidFill>
                  <a:srgbClr val="787069"/>
                </a:solidFill>
                <a:latin typeface="Calibri"/>
              </a:defRPr>
            </a:pPr>
            <a:r>
              <a:t>Slide 6 of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